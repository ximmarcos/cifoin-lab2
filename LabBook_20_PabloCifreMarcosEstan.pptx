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21"/>
  </p:handoutMasterIdLst>
  <p:sldIdLst>
    <p:sldId id="256" r:id="rId2"/>
    <p:sldId id="289" r:id="rId3"/>
    <p:sldId id="295" r:id="rId4"/>
    <p:sldId id="304" r:id="rId5"/>
    <p:sldId id="302" r:id="rId6"/>
    <p:sldId id="303" r:id="rId7"/>
    <p:sldId id="291" r:id="rId8"/>
    <p:sldId id="296" r:id="rId9"/>
    <p:sldId id="293" r:id="rId10"/>
    <p:sldId id="294" r:id="rId11"/>
    <p:sldId id="299" r:id="rId12"/>
    <p:sldId id="300" r:id="rId13"/>
    <p:sldId id="301" r:id="rId14"/>
    <p:sldId id="290" r:id="rId15"/>
    <p:sldId id="297" r:id="rId16"/>
    <p:sldId id="292" r:id="rId17"/>
    <p:sldId id="298" r:id="rId18"/>
    <p:sldId id="288" r:id="rId1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p:scale>
          <a:sx n="76" d="100"/>
          <a:sy n="76" d="100"/>
        </p:scale>
        <p:origin x="604" y="3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25/04/2026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25/04/2026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1.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Terminal + ‘</a:t>
            </a:r>
            <a:r>
              <a:rPr lang="en-US" kern="0" dirty="0" err="1">
                <a:solidFill>
                  <a:sysClr val="windowText" lastClr="000000"/>
                </a:solidFill>
                <a:sym typeface="Wingdings" pitchFamily="2" charset="2"/>
              </a:rPr>
              <a:t>uv</a:t>
            </a:r>
            <a:r>
              <a:rPr lang="en-US" kern="0">
                <a:solidFill>
                  <a:sysClr val="windowText" lastClr="000000"/>
                </a:solidFill>
                <a:sym typeface="Wingdings" pitchFamily="2" charset="2"/>
              </a:rPr>
              <a:t> sync’</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457040" y="3747036"/>
            <a:ext cx="11199971" cy="2769989"/>
          </a:xfrm>
          <a:prstGeom prst="rect">
            <a:avLst/>
          </a:prstGeom>
          <a:solidFill>
            <a:schemeClr val="bg1">
              <a:lumMod val="95000"/>
            </a:schemeClr>
          </a:solidFill>
          <a:ln w="28575">
            <a:solidFill>
              <a:srgbClr val="E0700D"/>
            </a:solidFill>
          </a:ln>
        </p:spPr>
        <p:txBody>
          <a:bodyPr wrap="square" rtlCol="0">
            <a:spAutoFit/>
          </a:bodyPr>
          <a:lstStyle/>
          <a:p>
            <a:pPr algn="just"/>
            <a:r>
              <a:rPr lang="es-ES" dirty="0">
                <a:latin typeface="Arial" panose="020B0604020202020204" pitchFamily="34" charset="0"/>
                <a:cs typeface="Arial" panose="020B0604020202020204" pitchFamily="34" charset="0"/>
              </a:rPr>
              <a:t>Hemos simulado la sección transversal de un acoplador direccional de dos guías </a:t>
            </a:r>
            <a:r>
              <a:rPr lang="es-ES" dirty="0" err="1">
                <a:latin typeface="Arial" panose="020B0604020202020204" pitchFamily="34" charset="0"/>
                <a:cs typeface="Arial" panose="020B0604020202020204" pitchFamily="34" charset="0"/>
              </a:rPr>
              <a:t>SiN</a:t>
            </a:r>
            <a:r>
              <a:rPr lang="es-ES" dirty="0">
                <a:latin typeface="Arial" panose="020B0604020202020204" pitchFamily="34" charset="0"/>
                <a:cs typeface="Arial" panose="020B0604020202020204" pitchFamily="34" charset="0"/>
              </a:rPr>
              <a:t> paralelas (W = 1.2 </a:t>
            </a:r>
            <a:r>
              <a:rPr lang="es-ES" dirty="0" err="1">
                <a:latin typeface="Arial" panose="020B0604020202020204" pitchFamily="34" charset="0"/>
                <a:cs typeface="Arial" panose="020B0604020202020204" pitchFamily="34" charset="0"/>
              </a:rPr>
              <a:t>μm</a:t>
            </a:r>
            <a:r>
              <a:rPr lang="es-ES" dirty="0">
                <a:latin typeface="Arial" panose="020B0604020202020204" pitchFamily="34" charset="0"/>
                <a:cs typeface="Arial" panose="020B0604020202020204" pitchFamily="34" charset="0"/>
              </a:rPr>
              <a:t>, h = 300 nm, gap = 600 nm, </a:t>
            </a:r>
            <a:r>
              <a:rPr lang="es-ES" dirty="0" err="1">
                <a:latin typeface="Arial" panose="020B0604020202020204" pitchFamily="34" charset="0"/>
                <a:cs typeface="Arial" panose="020B0604020202020204" pitchFamily="34" charset="0"/>
              </a:rPr>
              <a:t>deep-etched</a:t>
            </a:r>
            <a:r>
              <a:rPr lang="es-ES" dirty="0">
                <a:latin typeface="Arial" panose="020B0604020202020204" pitchFamily="34" charset="0"/>
                <a:cs typeface="Arial" panose="020B0604020202020204" pitchFamily="34" charset="0"/>
              </a:rPr>
              <a:t>) a λ = 1.55 </a:t>
            </a:r>
            <a:r>
              <a:rPr lang="es-ES" dirty="0" err="1">
                <a:latin typeface="Arial" panose="020B0604020202020204" pitchFamily="34" charset="0"/>
                <a:cs typeface="Arial" panose="020B0604020202020204" pitchFamily="34" charset="0"/>
              </a:rPr>
              <a:t>μm</a:t>
            </a:r>
            <a:r>
              <a:rPr lang="es-ES" dirty="0">
                <a:latin typeface="Arial" panose="020B0604020202020204" pitchFamily="34" charset="0"/>
                <a:cs typeface="Arial" panose="020B0604020202020204" pitchFamily="34" charset="0"/>
              </a:rPr>
              <a:t>, obteniendo los 4 primeros modos: 0 y 1 son TE par e impar, y 2 y 3 son TM par e impar (verificado con .</a:t>
            </a:r>
            <a:r>
              <a:rPr lang="es-ES" dirty="0" err="1">
                <a:latin typeface="Arial" panose="020B0604020202020204" pitchFamily="34" charset="0"/>
                <a:cs typeface="Arial" panose="020B0604020202020204" pitchFamily="34" charset="0"/>
              </a:rPr>
              <a:t>fraction_te</a:t>
            </a:r>
            <a:r>
              <a:rPr lang="es-ES" dirty="0">
                <a:latin typeface="Arial" panose="020B0604020202020204" pitchFamily="34" charset="0"/>
                <a:cs typeface="Arial" panose="020B0604020202020204" pitchFamily="34" charset="0"/>
              </a:rPr>
              <a:t> y .</a:t>
            </a:r>
            <a:r>
              <a:rPr lang="es-ES" dirty="0" err="1">
                <a:latin typeface="Arial" panose="020B0604020202020204" pitchFamily="34" charset="0"/>
                <a:cs typeface="Arial" panose="020B0604020202020204" pitchFamily="34" charset="0"/>
              </a:rPr>
              <a:t>fraction_tm</a:t>
            </a:r>
            <a:r>
              <a:rPr lang="es-ES" dirty="0">
                <a:latin typeface="Arial" panose="020B0604020202020204" pitchFamily="34" charset="0"/>
                <a:cs typeface="Arial" panose="020B0604020202020204" pitchFamily="34" charset="0"/>
              </a:rPr>
              <a:t>). Los </a:t>
            </a:r>
            <a:r>
              <a:rPr lang="es-ES" dirty="0" err="1">
                <a:latin typeface="Arial" panose="020B0604020202020204" pitchFamily="34" charset="0"/>
                <a:cs typeface="Arial" panose="020B0604020202020204" pitchFamily="34" charset="0"/>
              </a:rPr>
              <a:t>plots</a:t>
            </a:r>
            <a:r>
              <a:rPr lang="es-ES" dirty="0">
                <a:latin typeface="Arial" panose="020B0604020202020204" pitchFamily="34" charset="0"/>
                <a:cs typeface="Arial" panose="020B0604020202020204" pitchFamily="34" charset="0"/>
              </a:rPr>
              <a:t> de los campos confirman la simetría: los modos par presentan dos lóbulos del mismo signo y los impares dos lóbulos opuestos, siendo estos pares los responsables del batido entre guías. Aplicando L_π = λ / [2·(</a:t>
            </a:r>
            <a:r>
              <a:rPr lang="es-ES" dirty="0" err="1">
                <a:latin typeface="Arial" panose="020B0604020202020204" pitchFamily="34" charset="0"/>
                <a:cs typeface="Arial" panose="020B0604020202020204" pitchFamily="34" charset="0"/>
              </a:rPr>
              <a:t>n_par</a:t>
            </a:r>
            <a:r>
              <a:rPr lang="es-ES" dirty="0">
                <a:latin typeface="Arial" panose="020B0604020202020204" pitchFamily="34" charset="0"/>
                <a:cs typeface="Arial" panose="020B0604020202020204" pitchFamily="34" charset="0"/>
              </a:rPr>
              <a:t> − </a:t>
            </a:r>
            <a:r>
              <a:rPr lang="es-ES" dirty="0" err="1">
                <a:latin typeface="Arial" panose="020B0604020202020204" pitchFamily="34" charset="0"/>
                <a:cs typeface="Arial" panose="020B0604020202020204" pitchFamily="34" charset="0"/>
              </a:rPr>
              <a:t>n_impar</a:t>
            </a:r>
            <a:r>
              <a:rPr lang="es-ES" dirty="0">
                <a:latin typeface="Arial" panose="020B0604020202020204" pitchFamily="34" charset="0"/>
                <a:cs typeface="Arial" panose="020B0604020202020204" pitchFamily="34" charset="0"/>
              </a:rPr>
              <a:t>)] obtenemos L_π(TE) = 93.84 </a:t>
            </a:r>
            <a:r>
              <a:rPr lang="es-ES" dirty="0" err="1">
                <a:latin typeface="Arial" panose="020B0604020202020204" pitchFamily="34" charset="0"/>
                <a:cs typeface="Arial" panose="020B0604020202020204" pitchFamily="34" charset="0"/>
              </a:rPr>
              <a:t>μm</a:t>
            </a:r>
            <a:r>
              <a:rPr lang="es-ES" dirty="0">
                <a:latin typeface="Arial" panose="020B0604020202020204" pitchFamily="34" charset="0"/>
                <a:cs typeface="Arial" panose="020B0604020202020204" pitchFamily="34" charset="0"/>
              </a:rPr>
              <a:t> y L_π(TM) = 52.26 </a:t>
            </a:r>
            <a:r>
              <a:rPr lang="es-ES" dirty="0" err="1">
                <a:latin typeface="Arial" panose="020B0604020202020204" pitchFamily="34" charset="0"/>
                <a:cs typeface="Arial" panose="020B0604020202020204" pitchFamily="34" charset="0"/>
              </a:rPr>
              <a:t>μm</a:t>
            </a:r>
            <a:r>
              <a:rPr lang="es-ES" dirty="0">
                <a:latin typeface="Arial" panose="020B0604020202020204" pitchFamily="34" charset="0"/>
                <a:cs typeface="Arial" panose="020B0604020202020204" pitchFamily="34" charset="0"/>
              </a:rPr>
              <a:t>, coincidentes con .</a:t>
            </a:r>
            <a:r>
              <a:rPr lang="es-ES" dirty="0" err="1">
                <a:latin typeface="Arial" panose="020B0604020202020204" pitchFamily="34" charset="0"/>
                <a:cs typeface="Arial" panose="020B0604020202020204" pitchFamily="34" charset="0"/>
              </a:rPr>
              <a:t>coupling_length</a:t>
            </a:r>
            <a:r>
              <a:rPr lang="es-ES" dirty="0">
                <a:latin typeface="Arial" panose="020B0604020202020204" pitchFamily="34" charset="0"/>
                <a:cs typeface="Arial" panose="020B0604020202020204" pitchFamily="34" charset="0"/>
              </a:rPr>
              <a:t>(). Como L_π(TM) es casi la mitad que L_π(TE), el acoplador es birrefringente: la TM acopla más rápido por su menor confinamiento vertical y mayor solape a través del gap, por lo que un mismo dispositivo no puede ser 50:50 simultáneamente para ambas polarizaciones.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Hemos representado el coeficiente de acoplo K frente a la longitud normalizada L/L_π para una guía </a:t>
            </a:r>
            <a:r>
              <a:rPr lang="es-ES" sz="1400" dirty="0" err="1"/>
              <a:t>deep</a:t>
            </a:r>
            <a:r>
              <a:rPr lang="es-ES" sz="1400" dirty="0"/>
              <a:t> con W = 1.2 µm, gap = 0.6 µm y altura 300 nm a λ = 1.55 µm, partiendo de los valores L_π(TE) = 93.84 µm y L_π(TM) = 52.26 µm obtenidos en el LO.1. La transferencia completa de potencia entre guías (estado </a:t>
            </a:r>
            <a:r>
              <a:rPr lang="es-ES" sz="1400" dirty="0" err="1"/>
              <a:t>cross</a:t>
            </a:r>
            <a:r>
              <a:rPr lang="es-ES" sz="1400" dirty="0"/>
              <a:t>, K = 1) se alcanza a L = L_π, es decir, a 93.84 µm para TE y 52.26 µm para TM, mientras que el divisor 50:50 (K = 0.5) se obtiene a la mitad de esa distancia, L = L_π/2, esto es, 46.92 µm para TE y 26.13 µm para TM. A L = 2·L_π la potencia retorna a la guía de entrada (estado bar, K = 0), confirmando el carácter periódico del batido entre los modos par e impar. La diferencia entre polarizaciones evidencia la birrefringencia del dispositivo: la TM acopla casi el doble de rápido que la TE.</a:t>
            </a:r>
            <a:r>
              <a:rPr lang="en-US" sz="1400" dirty="0">
                <a:latin typeface="Arial" panose="020B0604020202020204" pitchFamily="34" charset="0"/>
                <a:cs typeface="Arial" panose="020B0604020202020204" pitchFamily="34" charset="0"/>
              </a:rPr>
              <a:t>)</a:t>
            </a: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5" name="Imagen 4">
            <a:extLst>
              <a:ext uri="{FF2B5EF4-FFF2-40B4-BE49-F238E27FC236}">
                <a16:creationId xmlns:a16="http://schemas.microsoft.com/office/drawing/2014/main" id="{760A72C7-F54B-6590-B72E-53E684EFD73B}"/>
              </a:ext>
            </a:extLst>
          </p:cNvPr>
          <p:cNvPicPr>
            <a:picLocks noChangeAspect="1"/>
          </p:cNvPicPr>
          <p:nvPr/>
        </p:nvPicPr>
        <p:blipFill>
          <a:blip r:embed="rId5"/>
          <a:stretch>
            <a:fillRect/>
          </a:stretch>
        </p:blipFill>
        <p:spPr>
          <a:xfrm>
            <a:off x="4343400" y="1581669"/>
            <a:ext cx="4380404" cy="2979435"/>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Hemos realizado un barrido del gap entre 0.2 y 1.2 µm en pasos de 0.2 µm para una guía </a:t>
            </a:r>
            <a:r>
              <a:rPr lang="es-ES" sz="1200" dirty="0" err="1"/>
              <a:t>deep</a:t>
            </a:r>
            <a:r>
              <a:rPr lang="es-ES" sz="1200" dirty="0"/>
              <a:t> con W = 1.2 µm, h = 300 nm y λ = 1.55 µm, simulando la propagación EME con L = L_π/2 (configuración 50:50) en cada caso. Los resultados obtenidos son: L_π(0.4 µm) = 50.11 µm, L_π(0.6 µm) = 94.03 µm, L_π(0.8 µm) = 173.96 µm, L_π(1.0 µm) = 318.88 µm y L_π(1.2 µm) = 580.43 µm. En los </a:t>
            </a:r>
            <a:r>
              <a:rPr lang="es-ES" sz="1200" dirty="0" err="1"/>
              <a:t>plots</a:t>
            </a:r>
            <a:r>
              <a:rPr lang="es-ES" sz="1200" dirty="0"/>
              <a:t> se observa claramente que L_π crece de forma exponencial con el gap: al pasar de 0.4 a 1.2 µm la longitud de batido se multiplica por más de 11. Esto se debe a que al separar las guías el solape evanescente entre ellas decae exponencialmente, ralentizando el batido entre los modos par e impar y exigiendo distancias mucho mayores para transferir la misma cantidad de potencia. La relación entre acoplamiento y gap es por tanto inversa: a mayor separación, menor coeficiente κ por unidad de longitud y mayor L_π. En todos los casos la propagación termina con un reparto 50:50 a la salida (al imponer L = L_π/2), lo que valida el dimensionado de la región de acoplo. Las pérdidas son despreciables porque la simulación EME ideal solo modela el batido modal sin contemplar pérdidas por </a:t>
            </a:r>
            <a:r>
              <a:rPr lang="es-ES" sz="1200" dirty="0" err="1"/>
              <a:t>scattering</a:t>
            </a:r>
            <a:r>
              <a:rPr lang="es-ES" sz="1200" dirty="0"/>
              <a:t>, absorción ni radiación en las transiciones, por lo que en un dispositivo real habría que añadir esas contribuciones.</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902EE03-1542-76DE-25F0-F934098E0BF8}"/>
              </a:ext>
            </a:extLst>
          </p:cNvPr>
          <p:cNvPicPr>
            <a:picLocks noChangeAspect="1"/>
          </p:cNvPicPr>
          <p:nvPr/>
        </p:nvPicPr>
        <p:blipFill>
          <a:blip r:embed="rId4"/>
          <a:stretch>
            <a:fillRect/>
          </a:stretch>
        </p:blipFill>
        <p:spPr>
          <a:xfrm>
            <a:off x="696988" y="1443773"/>
            <a:ext cx="3148013" cy="1287064"/>
          </a:xfrm>
          <a:prstGeom prst="rect">
            <a:avLst/>
          </a:prstGeom>
        </p:spPr>
      </p:pic>
      <p:pic>
        <p:nvPicPr>
          <p:cNvPr id="9" name="Imagen 8">
            <a:extLst>
              <a:ext uri="{FF2B5EF4-FFF2-40B4-BE49-F238E27FC236}">
                <a16:creationId xmlns:a16="http://schemas.microsoft.com/office/drawing/2014/main" id="{3B7214FF-1650-D450-5B81-7272DA1AC3E4}"/>
              </a:ext>
            </a:extLst>
          </p:cNvPr>
          <p:cNvPicPr>
            <a:picLocks noChangeAspect="1"/>
          </p:cNvPicPr>
          <p:nvPr/>
        </p:nvPicPr>
        <p:blipFill>
          <a:blip r:embed="rId5"/>
          <a:stretch>
            <a:fillRect/>
          </a:stretch>
        </p:blipFill>
        <p:spPr>
          <a:xfrm>
            <a:off x="3845001" y="1589715"/>
            <a:ext cx="3393999" cy="1074571"/>
          </a:xfrm>
          <a:prstGeom prst="rect">
            <a:avLst/>
          </a:prstGeom>
        </p:spPr>
      </p:pic>
      <p:pic>
        <p:nvPicPr>
          <p:cNvPr id="11" name="Imagen 10">
            <a:extLst>
              <a:ext uri="{FF2B5EF4-FFF2-40B4-BE49-F238E27FC236}">
                <a16:creationId xmlns:a16="http://schemas.microsoft.com/office/drawing/2014/main" id="{620B8884-07AF-EFD7-EB4A-7DEAE65341CD}"/>
              </a:ext>
            </a:extLst>
          </p:cNvPr>
          <p:cNvPicPr>
            <a:picLocks noChangeAspect="1"/>
          </p:cNvPicPr>
          <p:nvPr/>
        </p:nvPicPr>
        <p:blipFill>
          <a:blip r:embed="rId6"/>
          <a:stretch>
            <a:fillRect/>
          </a:stretch>
        </p:blipFill>
        <p:spPr>
          <a:xfrm>
            <a:off x="7419649" y="1643158"/>
            <a:ext cx="4276725" cy="1087679"/>
          </a:xfrm>
          <a:prstGeom prst="rect">
            <a:avLst/>
          </a:prstGeom>
        </p:spPr>
      </p:pic>
      <p:pic>
        <p:nvPicPr>
          <p:cNvPr id="13" name="Imagen 12">
            <a:extLst>
              <a:ext uri="{FF2B5EF4-FFF2-40B4-BE49-F238E27FC236}">
                <a16:creationId xmlns:a16="http://schemas.microsoft.com/office/drawing/2014/main" id="{833AEB14-40E1-EC0C-478A-555F931A9154}"/>
              </a:ext>
            </a:extLst>
          </p:cNvPr>
          <p:cNvPicPr>
            <a:picLocks noChangeAspect="1"/>
          </p:cNvPicPr>
          <p:nvPr/>
        </p:nvPicPr>
        <p:blipFill>
          <a:blip r:embed="rId7"/>
          <a:stretch>
            <a:fillRect/>
          </a:stretch>
        </p:blipFill>
        <p:spPr>
          <a:xfrm>
            <a:off x="696988" y="3200401"/>
            <a:ext cx="3393999" cy="716380"/>
          </a:xfrm>
          <a:prstGeom prst="rect">
            <a:avLst/>
          </a:prstGeom>
        </p:spPr>
      </p:pic>
      <p:pic>
        <p:nvPicPr>
          <p:cNvPr id="15" name="Imagen 14">
            <a:extLst>
              <a:ext uri="{FF2B5EF4-FFF2-40B4-BE49-F238E27FC236}">
                <a16:creationId xmlns:a16="http://schemas.microsoft.com/office/drawing/2014/main" id="{BA7F3A6B-E0A9-D638-76F1-8908213F0163}"/>
              </a:ext>
            </a:extLst>
          </p:cNvPr>
          <p:cNvPicPr>
            <a:picLocks noChangeAspect="1"/>
          </p:cNvPicPr>
          <p:nvPr/>
        </p:nvPicPr>
        <p:blipFill>
          <a:blip r:embed="rId8"/>
          <a:stretch>
            <a:fillRect/>
          </a:stretch>
        </p:blipFill>
        <p:spPr>
          <a:xfrm>
            <a:off x="4349442" y="3177311"/>
            <a:ext cx="3667125" cy="678862"/>
          </a:xfrm>
          <a:prstGeom prst="rect">
            <a:avLst/>
          </a:prstGeom>
        </p:spPr>
      </p:pic>
      <p:pic>
        <p:nvPicPr>
          <p:cNvPr id="18" name="Imagen 17">
            <a:extLst>
              <a:ext uri="{FF2B5EF4-FFF2-40B4-BE49-F238E27FC236}">
                <a16:creationId xmlns:a16="http://schemas.microsoft.com/office/drawing/2014/main" id="{585B6B14-6484-A2DC-F71D-56FE4AF00E9E}"/>
              </a:ext>
            </a:extLst>
          </p:cNvPr>
          <p:cNvPicPr>
            <a:picLocks noChangeAspect="1"/>
          </p:cNvPicPr>
          <p:nvPr/>
        </p:nvPicPr>
        <p:blipFill>
          <a:blip r:embed="rId9"/>
          <a:stretch>
            <a:fillRect/>
          </a:stretch>
        </p:blipFill>
        <p:spPr>
          <a:xfrm>
            <a:off x="8275022" y="3200401"/>
            <a:ext cx="3179559" cy="539095"/>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1815882"/>
          </a:xfrm>
          <a:prstGeom prst="rect">
            <a:avLst/>
          </a:prstGeom>
          <a:solidFill>
            <a:schemeClr val="bg1">
              <a:lumMod val="95000"/>
            </a:schemeClr>
          </a:solidFill>
          <a:ln w="28575">
            <a:solidFill>
              <a:srgbClr val="E0700D"/>
            </a:solidFill>
          </a:ln>
        </p:spPr>
        <p:txBody>
          <a:bodyPr wrap="square" rtlCol="0">
            <a:spAutoFit/>
          </a:bodyPr>
          <a:lstStyle/>
          <a:p>
            <a:pPr algn="just"/>
            <a:r>
              <a:rPr lang="es-ES" sz="1600" dirty="0"/>
              <a:t>Hemos calculado K vs gap para una longitud de propagación L = 10 mm con W = 1.0 µm, λ = 1.55 µm y modo TE0. El gap mínimo para que el coeficiente de acoplo se mantenga por debajo del umbral K &lt; 0.01 (criterio de "</a:t>
            </a:r>
            <a:r>
              <a:rPr lang="es-ES" sz="1600" dirty="0" err="1"/>
              <a:t>uncoupled</a:t>
            </a:r>
            <a:r>
              <a:rPr lang="es-ES" sz="1600" dirty="0"/>
              <a:t>") es de aproximadamente 4 µm para la guía </a:t>
            </a:r>
            <a:r>
              <a:rPr lang="es-ES" sz="1600" dirty="0" err="1"/>
              <a:t>deep</a:t>
            </a:r>
            <a:r>
              <a:rPr lang="es-ES" sz="1600" dirty="0"/>
              <a:t> y 5 µm para la guía </a:t>
            </a:r>
            <a:r>
              <a:rPr lang="es-ES" sz="1600" dirty="0" err="1"/>
              <a:t>shallow</a:t>
            </a:r>
            <a:r>
              <a:rPr lang="es-ES" sz="1600" dirty="0"/>
              <a:t> (</a:t>
            </a:r>
            <a:r>
              <a:rPr lang="es-ES" sz="1600" dirty="0" err="1"/>
              <a:t>slab</a:t>
            </a:r>
            <a:r>
              <a:rPr lang="es-ES" sz="1600" dirty="0"/>
              <a:t> = 150 nm). Las oscilaciones que se observan a gaps pequeños se deben a que en ese rango L_π es mucho menor que </a:t>
            </a:r>
            <a:r>
              <a:rPr lang="es-ES" sz="1600" dirty="0" err="1"/>
              <a:t>L_chip</a:t>
            </a:r>
            <a:r>
              <a:rPr lang="es-ES" sz="1600" dirty="0"/>
              <a:t> y la luz completa varios ciclos de batido a lo largo de los 10 mm, haciendo que K oscile entre 0 y 1 según el número entero de L_π contenidos en L; esa zona no es de interés práctico. La conclusión es que la configuración </a:t>
            </a:r>
            <a:r>
              <a:rPr lang="es-ES" sz="1600" dirty="0" err="1"/>
              <a:t>shallow</a:t>
            </a:r>
            <a:r>
              <a:rPr lang="es-ES" sz="1600" dirty="0"/>
              <a:t> exige mayor separación entre guías para considerarlas desacopladas, ya que el </a:t>
            </a:r>
            <a:r>
              <a:rPr lang="es-ES" sz="1600" dirty="0" err="1"/>
              <a:t>slab</a:t>
            </a:r>
            <a:r>
              <a:rPr lang="es-ES" sz="1600" dirty="0"/>
              <a:t> residual incrementa el solape evanescente y por tanto el coeficiente κ por unidad de longitud.</a:t>
            </a:r>
            <a:endParaRPr lang="en-US" sz="16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FE843289-C218-ED7D-B421-82315DFD1267}"/>
              </a:ext>
            </a:extLst>
          </p:cNvPr>
          <p:cNvPicPr>
            <a:picLocks noChangeAspect="1"/>
          </p:cNvPicPr>
          <p:nvPr/>
        </p:nvPicPr>
        <p:blipFill>
          <a:blip r:embed="rId4"/>
          <a:stretch>
            <a:fillRect/>
          </a:stretch>
        </p:blipFill>
        <p:spPr>
          <a:xfrm>
            <a:off x="1143000" y="1320870"/>
            <a:ext cx="4115292" cy="3099659"/>
          </a:xfrm>
          <a:prstGeom prst="rect">
            <a:avLst/>
          </a:prstGeom>
        </p:spPr>
      </p:pic>
      <p:pic>
        <p:nvPicPr>
          <p:cNvPr id="11" name="Imagen 10">
            <a:extLst>
              <a:ext uri="{FF2B5EF4-FFF2-40B4-BE49-F238E27FC236}">
                <a16:creationId xmlns:a16="http://schemas.microsoft.com/office/drawing/2014/main" id="{1429EB6F-4F30-923C-08D7-EA5A2371D4F8}"/>
              </a:ext>
            </a:extLst>
          </p:cNvPr>
          <p:cNvPicPr>
            <a:picLocks noChangeAspect="1"/>
          </p:cNvPicPr>
          <p:nvPr/>
        </p:nvPicPr>
        <p:blipFill>
          <a:blip r:embed="rId5"/>
          <a:stretch>
            <a:fillRect/>
          </a:stretch>
        </p:blipFill>
        <p:spPr>
          <a:xfrm>
            <a:off x="6781800" y="1279949"/>
            <a:ext cx="4157222" cy="3126231"/>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583019" y="4267200"/>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Hemos simulado la sección transversal del cuerpo de un MMI con W = 12 µm, h = 300 nm, </a:t>
            </a:r>
            <a:r>
              <a:rPr lang="es-ES" sz="1400" dirty="0" err="1"/>
              <a:t>deep</a:t>
            </a:r>
            <a:r>
              <a:rPr lang="es-ES" sz="1400" dirty="0"/>
              <a:t> sobre SiO₂, a λ = 1.55 µm, calculando los 20 primeros modos. Con .</a:t>
            </a:r>
            <a:r>
              <a:rPr lang="es-ES" sz="1400" dirty="0" err="1"/>
              <a:t>fraction_te</a:t>
            </a:r>
            <a:r>
              <a:rPr lang="es-ES" sz="1400" dirty="0"/>
              <a:t> hemos distinguido los modos TE puros (fracción ≈ 1) de los TM puros (fracción ≈ 0). Los </a:t>
            </a:r>
            <a:r>
              <a:rPr lang="es-ES" sz="1400" dirty="0" err="1"/>
              <a:t>plots</a:t>
            </a:r>
            <a:r>
              <a:rPr lang="es-ES" sz="1400" dirty="0"/>
              <a:t> de los campos confirman la estructura modal: el modo 0 (Ex) tiene un único lóbulo central (TE0), el modo 1 (Ex) dos lóbulos de signo opuesto (TE1) y el modo 7 (Ex) múltiples lóbulos alternados propios de un modo de orden alto. Aplicando L_π = λ / [2·(n_eff,0 − n_eff,1)] obtenemos L_π = 219.41 µm, valor mucho mayor que en el </a:t>
            </a:r>
            <a:r>
              <a:rPr lang="es-ES" sz="1400" dirty="0" err="1"/>
              <a:t>directional</a:t>
            </a:r>
            <a:r>
              <a:rPr lang="es-ES" sz="1400" dirty="0"/>
              <a:t> </a:t>
            </a:r>
            <a:r>
              <a:rPr lang="es-ES" sz="1400" dirty="0" err="1"/>
              <a:t>coupler</a:t>
            </a:r>
            <a:r>
              <a:rPr lang="es-ES" sz="1400" dirty="0"/>
              <a:t> porque la anchura de 12 µm hace que los modos 0 y 1 estén casi degenerados. La diferencia entre </a:t>
            </a:r>
            <a:r>
              <a:rPr lang="es-ES" sz="1400" dirty="0" err="1"/>
              <a:t>n_eff</a:t>
            </a:r>
            <a:r>
              <a:rPr lang="es-ES" sz="1400" dirty="0"/>
              <a:t> de modos TE y TM evidencia además la birrefringencia del MMI debida a la asimetría vertical de la guía.</a:t>
            </a:r>
            <a:endParaRPr lang="en-US" sz="14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583019" y="4970133"/>
            <a:ext cx="11199971" cy="1323439"/>
          </a:xfrm>
          <a:prstGeom prst="rect">
            <a:avLst/>
          </a:prstGeom>
          <a:solidFill>
            <a:schemeClr val="bg1">
              <a:lumMod val="95000"/>
            </a:schemeClr>
          </a:solidFill>
          <a:ln w="28575">
            <a:solidFill>
              <a:srgbClr val="E0700D"/>
            </a:solidFill>
          </a:ln>
        </p:spPr>
        <p:txBody>
          <a:bodyPr wrap="square" rtlCol="0">
            <a:spAutoFit/>
          </a:bodyPr>
          <a:lstStyle/>
          <a:p>
            <a:pPr algn="just"/>
            <a:r>
              <a:rPr lang="es-ES" sz="1600" dirty="0"/>
              <a:t>Hemos simulado un MMI 2×2 con W = 6.6 µm a λ = 1.55 µm en configuración </a:t>
            </a:r>
            <a:r>
              <a:rPr lang="es-ES" sz="1600" dirty="0" err="1"/>
              <a:t>paired</a:t>
            </a:r>
            <a:r>
              <a:rPr lang="es-ES" sz="1600" dirty="0"/>
              <a:t> </a:t>
            </a:r>
            <a:r>
              <a:rPr lang="es-ES" sz="1600" dirty="0" err="1"/>
              <a:t>interference</a:t>
            </a:r>
            <a:r>
              <a:rPr lang="es-ES" sz="1600" dirty="0"/>
              <a:t> (entradas/salidas en ±W/6, L = L_π/2). El L_π del cuerpo es de ≈ 69 µm, por lo que la longitud final del MMI es de 34.52 µm. La propagación EME da un reparto 51.5/48.5 a la salida, prácticamente 50:50, con pérdidas de exceso de 0.42 dB debidas a las transiciones entre los puertos de acceso y el </a:t>
            </a:r>
            <a:r>
              <a:rPr lang="es-ES" sz="1600" dirty="0" err="1"/>
              <a:t>body</a:t>
            </a:r>
            <a:r>
              <a:rPr lang="es-ES" sz="1600" dirty="0"/>
              <a:t> multimodo. Comparado con el </a:t>
            </a:r>
            <a:r>
              <a:rPr lang="es-ES" sz="1600" dirty="0" err="1"/>
              <a:t>directional</a:t>
            </a:r>
            <a:r>
              <a:rPr lang="es-ES" sz="1600" dirty="0"/>
              <a:t> </a:t>
            </a:r>
            <a:r>
              <a:rPr lang="es-ES" sz="1600" dirty="0" err="1"/>
              <a:t>coupler</a:t>
            </a:r>
            <a:r>
              <a:rPr lang="es-ES" sz="1600" dirty="0"/>
              <a:t> (L_π(TE) ≈ 94 µm, longitud ≈ 47 µm para 50:50), el MMI es más compacto y robusto frente a tolerancias de fabricación, a costa de algo más de pérdida.</a:t>
            </a:r>
            <a:endParaRPr lang="en-US" sz="16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C4932F3C-E1E0-5FFA-36AD-306E083E6EDA}"/>
              </a:ext>
            </a:extLst>
          </p:cNvPr>
          <p:cNvPicPr>
            <a:picLocks noChangeAspect="1"/>
          </p:cNvPicPr>
          <p:nvPr/>
        </p:nvPicPr>
        <p:blipFill>
          <a:blip r:embed="rId4"/>
          <a:stretch>
            <a:fillRect/>
          </a:stretch>
        </p:blipFill>
        <p:spPr>
          <a:xfrm>
            <a:off x="914400" y="1828800"/>
            <a:ext cx="5381625" cy="2219325"/>
          </a:xfrm>
          <a:prstGeom prst="rect">
            <a:avLst/>
          </a:prstGeom>
        </p:spPr>
      </p:pic>
      <p:pic>
        <p:nvPicPr>
          <p:cNvPr id="9" name="Imagen 8">
            <a:extLst>
              <a:ext uri="{FF2B5EF4-FFF2-40B4-BE49-F238E27FC236}">
                <a16:creationId xmlns:a16="http://schemas.microsoft.com/office/drawing/2014/main" id="{8C2DFDCC-CE69-2281-CBEC-18E0739A530C}"/>
              </a:ext>
            </a:extLst>
          </p:cNvPr>
          <p:cNvPicPr>
            <a:picLocks noChangeAspect="1"/>
          </p:cNvPicPr>
          <p:nvPr/>
        </p:nvPicPr>
        <p:blipFill>
          <a:blip r:embed="rId5"/>
          <a:stretch>
            <a:fillRect/>
          </a:stretch>
        </p:blipFill>
        <p:spPr>
          <a:xfrm>
            <a:off x="7019070" y="1775057"/>
            <a:ext cx="4273770" cy="2197213"/>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583019" y="4776800"/>
            <a:ext cx="11199971" cy="1785104"/>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Hemos optimizado manualmente el MMI 2×2 ajustando iterativamente la longitud (</a:t>
            </a:r>
            <a:r>
              <a:rPr lang="es-ES" sz="1400" dirty="0" err="1"/>
              <a:t>dL_MMI</a:t>
            </a:r>
            <a:r>
              <a:rPr lang="es-ES" sz="1400" dirty="0"/>
              <a:t>) y la posición de los puertos (</a:t>
            </a:r>
            <a:r>
              <a:rPr lang="es-ES" sz="1400" dirty="0" err="1"/>
              <a:t>dy</a:t>
            </a:r>
            <a:r>
              <a:rPr lang="es-ES" sz="1400" dirty="0"/>
              <a:t>) buscando ratio simétrico y mínimas pérdidas. Partiendo del diseño nominal (</a:t>
            </a:r>
            <a:r>
              <a:rPr lang="es-ES" sz="1400" dirty="0" err="1"/>
              <a:t>dy</a:t>
            </a:r>
            <a:r>
              <a:rPr lang="es-ES" sz="1400" dirty="0"/>
              <a:t> = 0, </a:t>
            </a:r>
            <a:r>
              <a:rPr lang="es-ES" sz="1400" dirty="0" err="1"/>
              <a:t>dL</a:t>
            </a:r>
            <a:r>
              <a:rPr lang="es-ES" sz="1400" dirty="0"/>
              <a:t> = 0), que da 0.42 dB de pérdidas y un ratio [0.515, 0.485], hemos comprobado que aumentar </a:t>
            </a:r>
            <a:r>
              <a:rPr lang="es-ES" sz="1400" dirty="0" err="1"/>
              <a:t>dy</a:t>
            </a:r>
            <a:r>
              <a:rPr lang="es-ES" sz="1400" dirty="0"/>
              <a:t> a 0.2 µm sube las pérdidas a 0.79 dB sin mejorar el balance, mientras que acortar el MMI 2 µm (</a:t>
            </a:r>
            <a:r>
              <a:rPr lang="es-ES" sz="1400" dirty="0" err="1"/>
              <a:t>dL</a:t>
            </a:r>
            <a:r>
              <a:rPr lang="es-ES" sz="1400" dirty="0"/>
              <a:t> = -2) mejora el ratio a [0.495, 0.505] pero a costa de subir las pérdidas a 0.87 dB. Esto evidencia que </a:t>
            </a:r>
            <a:r>
              <a:rPr lang="es-ES" sz="1400" b="1" dirty="0" err="1"/>
              <a:t>dy</a:t>
            </a:r>
            <a:r>
              <a:rPr lang="es-ES" sz="1400" b="1" dirty="0"/>
              <a:t> afecta principalmente a las pérdidas</a:t>
            </a:r>
            <a:r>
              <a:rPr lang="es-ES" sz="1400" dirty="0"/>
              <a:t> (al desplazar los puertos respecto a la posición ideal ±W/6 disminuye el solape con la imagen propia) y </a:t>
            </a:r>
            <a:r>
              <a:rPr lang="es-ES" sz="1400" b="1" dirty="0" err="1"/>
              <a:t>dL_MMI</a:t>
            </a:r>
            <a:r>
              <a:rPr lang="es-ES" sz="1400" b="1" dirty="0"/>
              <a:t> afecta principalmente al balance</a:t>
            </a:r>
            <a:r>
              <a:rPr lang="es-ES" sz="1400" dirty="0"/>
              <a:t> (porque cambia el plano donde se forma la imagen). La configuración óptima encontrada combinando ambos parámetros es </a:t>
            </a:r>
            <a:r>
              <a:rPr lang="es-ES" sz="1400" b="1" dirty="0" err="1"/>
              <a:t>dy</a:t>
            </a:r>
            <a:r>
              <a:rPr lang="es-ES" sz="1400" b="1" dirty="0"/>
              <a:t> = 0.1 µm, </a:t>
            </a:r>
            <a:r>
              <a:rPr lang="es-ES" sz="1400" b="1" dirty="0" err="1"/>
              <a:t>dL_MMI</a:t>
            </a:r>
            <a:r>
              <a:rPr lang="es-ES" sz="1400" b="1" dirty="0"/>
              <a:t> = -1 µm</a:t>
            </a:r>
            <a:r>
              <a:rPr lang="es-ES" sz="1400" dirty="0"/>
              <a:t>, que da un ratio prácticamente simétrico [0.495, 0.505] con pérdidas de solo 0.51 dB, mejorando el balance del diseño nominal a costa de un incremento mínimo de pérdidas.</a:t>
            </a:r>
            <a:endParaRPr lang="en-US" sz="14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64124A33-A75C-1CBF-81DE-46EC44330C0E}"/>
              </a:ext>
            </a:extLst>
          </p:cNvPr>
          <p:cNvPicPr>
            <a:picLocks noChangeAspect="1"/>
          </p:cNvPicPr>
          <p:nvPr/>
        </p:nvPicPr>
        <p:blipFill>
          <a:blip r:embed="rId4"/>
          <a:stretch>
            <a:fillRect/>
          </a:stretch>
        </p:blipFill>
        <p:spPr>
          <a:xfrm>
            <a:off x="2362200" y="1606196"/>
            <a:ext cx="6815137" cy="2848655"/>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Hemos optimizado el MMI 2×2 incluyendo un tercer parámetro respecto al LO.6.2: la anchura de las guías de E/S, controlada por </a:t>
            </a:r>
            <a:r>
              <a:rPr lang="es-ES" sz="1200" dirty="0" err="1"/>
              <a:t>wg_width_dw</a:t>
            </a:r>
            <a:r>
              <a:rPr lang="es-ES" sz="1200" dirty="0"/>
              <a:t>. Partiendo de los valores óptimos previos (</a:t>
            </a:r>
            <a:r>
              <a:rPr lang="es-ES" sz="1200" dirty="0" err="1"/>
              <a:t>dy</a:t>
            </a:r>
            <a:r>
              <a:rPr lang="es-ES" sz="1200" dirty="0"/>
              <a:t> = 0.1 µm, </a:t>
            </a:r>
            <a:r>
              <a:rPr lang="es-ES" sz="1200" dirty="0" err="1"/>
              <a:t>dL_MMI</a:t>
            </a:r>
            <a:r>
              <a:rPr lang="es-ES" sz="1200" dirty="0"/>
              <a:t> = -0.5 µm) y barriendo </a:t>
            </a:r>
            <a:r>
              <a:rPr lang="es-ES" sz="1200" dirty="0" err="1"/>
              <a:t>wg_width_dw</a:t>
            </a:r>
            <a:r>
              <a:rPr lang="es-ES" sz="1200" dirty="0"/>
              <a:t> entre 0.0 y 0.8 µm, observamos que las pérdidas decrecen monótonamente al ensanchar las guías: 0.51 dB con </a:t>
            </a:r>
            <a:r>
              <a:rPr lang="es-ES" sz="1200" dirty="0" err="1"/>
              <a:t>wg_dw</a:t>
            </a:r>
            <a:r>
              <a:rPr lang="es-ES" sz="1200" dirty="0"/>
              <a:t> = 0, 0.33 dB con 0.2, 0.22 dB con 0.4, 0.13 dB con 0.6 y 0.073 dB con 0.8 µm, manteniendo el ratio prácticamente simétrico [0.5092, 0.4908]. Físicamente, las guías de E/S más anchas solapan mejor con la imagen propia formada a la salida del cuerpo multimodo, reduciendo las pérdidas de transición. La configuración óptima encontrada (</a:t>
            </a:r>
            <a:r>
              <a:rPr lang="es-ES" sz="1200" dirty="0" err="1"/>
              <a:t>wg_width_dw</a:t>
            </a:r>
            <a:r>
              <a:rPr lang="es-ES" sz="1200" dirty="0"/>
              <a:t> = 0.8 µm, </a:t>
            </a:r>
            <a:r>
              <a:rPr lang="es-ES" sz="1200" dirty="0" err="1"/>
              <a:t>dy</a:t>
            </a:r>
            <a:r>
              <a:rPr lang="es-ES" sz="1200" dirty="0"/>
              <a:t> = 0.1 µm, </a:t>
            </a:r>
            <a:r>
              <a:rPr lang="es-ES" sz="1200" dirty="0" err="1"/>
              <a:t>dL_MMI</a:t>
            </a:r>
            <a:r>
              <a:rPr lang="es-ES" sz="1200" dirty="0"/>
              <a:t> = -0.5 µm) cumple ampliamente el objetivo del ejercicio (</a:t>
            </a:r>
            <a:r>
              <a:rPr lang="es-ES" sz="1200" dirty="0" err="1"/>
              <a:t>Excess</a:t>
            </a:r>
            <a:r>
              <a:rPr lang="es-ES" sz="1200" dirty="0"/>
              <a:t> </a:t>
            </a:r>
            <a:r>
              <a:rPr lang="es-ES" sz="1200" dirty="0" err="1"/>
              <a:t>loss</a:t>
            </a:r>
            <a:r>
              <a:rPr lang="es-ES" sz="1200" dirty="0"/>
              <a:t> &lt; 0.1 dB con ratio ≈ 50:50), reduciendo las pérdidas a una sexta parte respecto al diseño nominal del LO.6.1 (0.42 dB → 0.073 dB) y demostrando que la combinación adecuada de los tres parámetros mejora drásticamente el rendimiento del MMI sin necesidad de cambiar la geometría del cuerpo multimodo.</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B721745-D5E1-F6CA-3517-9E2D30A1313E}"/>
              </a:ext>
            </a:extLst>
          </p:cNvPr>
          <p:cNvPicPr>
            <a:picLocks noChangeAspect="1"/>
          </p:cNvPicPr>
          <p:nvPr/>
        </p:nvPicPr>
        <p:blipFill>
          <a:blip r:embed="rId4"/>
          <a:stretch>
            <a:fillRect/>
          </a:stretch>
        </p:blipFill>
        <p:spPr>
          <a:xfrm>
            <a:off x="914400" y="1911336"/>
            <a:ext cx="5381625" cy="2238375"/>
          </a:xfrm>
          <a:prstGeom prst="rect">
            <a:avLst/>
          </a:prstGeom>
        </p:spPr>
      </p:pic>
      <p:pic>
        <p:nvPicPr>
          <p:cNvPr id="9" name="Imagen 8">
            <a:extLst>
              <a:ext uri="{FF2B5EF4-FFF2-40B4-BE49-F238E27FC236}">
                <a16:creationId xmlns:a16="http://schemas.microsoft.com/office/drawing/2014/main" id="{CB037675-07F5-CB08-4BCA-B3626BE10ED9}"/>
              </a:ext>
            </a:extLst>
          </p:cNvPr>
          <p:cNvPicPr>
            <a:picLocks noChangeAspect="1"/>
          </p:cNvPicPr>
          <p:nvPr/>
        </p:nvPicPr>
        <p:blipFill>
          <a:blip r:embed="rId5"/>
          <a:stretch>
            <a:fillRect/>
          </a:stretch>
        </p:blipFill>
        <p:spPr>
          <a:xfrm>
            <a:off x="7593876" y="1803400"/>
            <a:ext cx="3435527" cy="2216264"/>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Hemos repetido el procedimiento del LO.6 adaptándolo al 1×4. (1) Sección transversal: cuerpo de </a:t>
            </a:r>
            <a:r>
              <a:rPr lang="es-ES" sz="1200" dirty="0" err="1"/>
              <a:t>SiN</a:t>
            </a:r>
            <a:r>
              <a:rPr lang="es-ES" sz="1200" dirty="0"/>
              <a:t> </a:t>
            </a:r>
            <a:r>
              <a:rPr lang="es-ES" sz="1200" dirty="0" err="1"/>
              <a:t>deep-etched</a:t>
            </a:r>
            <a:r>
              <a:rPr lang="es-ES" sz="1200" dirty="0"/>
              <a:t>, h = 300 nm, anchura W = 6.0 µm (compromiso entre compacidad y espacio para 4 salidas). (2) Modos: 30 modos calculados con </a:t>
            </a:r>
            <a:r>
              <a:rPr lang="es-ES" sz="1200" dirty="0" err="1"/>
              <a:t>find_all_modes</a:t>
            </a:r>
            <a:r>
              <a:rPr lang="es-ES" sz="1200" dirty="0"/>
              <a:t>() y L_π obtenido vía </a:t>
            </a:r>
            <a:r>
              <a:rPr lang="es-ES" sz="1200" dirty="0" err="1"/>
              <a:t>get_L_pi</a:t>
            </a:r>
            <a:r>
              <a:rPr lang="es-ES" sz="1200" dirty="0"/>
              <a:t>(). (3) Configuración: aplicando </a:t>
            </a:r>
            <a:r>
              <a:rPr lang="es-ES" sz="1200" dirty="0" err="1"/>
              <a:t>symmetric</a:t>
            </a:r>
            <a:r>
              <a:rPr lang="es-ES" sz="1200" dirty="0"/>
              <a:t> </a:t>
            </a:r>
            <a:r>
              <a:rPr lang="es-ES" sz="1200" dirty="0" err="1"/>
              <a:t>interference</a:t>
            </a:r>
            <a:r>
              <a:rPr lang="es-ES" sz="1200" dirty="0"/>
              <a:t> para </a:t>
            </a:r>
            <a:r>
              <a:rPr lang="es-ES" sz="1200" dirty="0" err="1"/>
              <a:t>multi-imágenes</a:t>
            </a:r>
            <a:r>
              <a:rPr lang="es-ES" sz="1200" dirty="0"/>
              <a:t> — entrada centrada, 4 salidas en (W/N)·[-3/2, -1/2, +1/2, +3/2] y longitud L_MMI = (3·L_π/4)/N. (4) Propagación EME: L_MMI = 10.79 µm, reparto [0.2347, 0.2653, 0.2653, 0.2347] (casi uniforme, ideal 0.25) y pérdidas de 0.39 dB. El diseño cumple el objetivo de mínimas pérdidas y simetría entre las 4 salidas; el ligero desbalance del 3 % entre puertos centrales y externos podría afinarse con </a:t>
            </a:r>
            <a:r>
              <a:rPr lang="es-ES" sz="1200" dirty="0" err="1"/>
              <a:t>wg_width_dw</a:t>
            </a:r>
            <a:r>
              <a:rPr lang="es-ES" sz="1200" dirty="0"/>
              <a:t> y </a:t>
            </a:r>
            <a:r>
              <a:rPr lang="es-ES" sz="1200" dirty="0" err="1"/>
              <a:t>dL_MMI</a:t>
            </a:r>
            <a:r>
              <a:rPr lang="es-ES" sz="1200" dirty="0"/>
              <a:t> como en el LO.6.3.</a:t>
            </a:r>
            <a:r>
              <a:rPr lang="en-US" sz="1200" dirty="0">
                <a:cs typeface="Arial" panose="020B0604020202020204" pitchFamily="34" charset="0"/>
              </a:rPr>
              <a:t>.  </a:t>
            </a: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49C6B96-0DF3-B3D0-02EC-6CC4E110C5BC}"/>
              </a:ext>
            </a:extLst>
          </p:cNvPr>
          <p:cNvPicPr>
            <a:picLocks noChangeAspect="1"/>
          </p:cNvPicPr>
          <p:nvPr/>
        </p:nvPicPr>
        <p:blipFill>
          <a:blip r:embed="rId4"/>
          <a:stretch>
            <a:fillRect/>
          </a:stretch>
        </p:blipFill>
        <p:spPr>
          <a:xfrm>
            <a:off x="838200" y="1500889"/>
            <a:ext cx="4443413" cy="3059270"/>
          </a:xfrm>
          <a:prstGeom prst="rect">
            <a:avLst/>
          </a:prstGeom>
        </p:spPr>
      </p:pic>
      <p:pic>
        <p:nvPicPr>
          <p:cNvPr id="9" name="Imagen 8">
            <a:extLst>
              <a:ext uri="{FF2B5EF4-FFF2-40B4-BE49-F238E27FC236}">
                <a16:creationId xmlns:a16="http://schemas.microsoft.com/office/drawing/2014/main" id="{BE79D975-602C-1DFF-5756-605E7A3B0DBE}"/>
              </a:ext>
            </a:extLst>
          </p:cNvPr>
          <p:cNvPicPr>
            <a:picLocks noChangeAspect="1"/>
          </p:cNvPicPr>
          <p:nvPr/>
        </p:nvPicPr>
        <p:blipFill>
          <a:blip r:embed="rId5"/>
          <a:stretch>
            <a:fillRect/>
          </a:stretch>
        </p:blipFill>
        <p:spPr>
          <a:xfrm>
            <a:off x="6065281" y="1877940"/>
            <a:ext cx="4648439" cy="2305168"/>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Hemos barrido el gap entre 0.2 y 2.4 µm para guías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=0) y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=150 nm), W = 1.0 µm a λ = 1.55 µm, calculando L_π para TE y TM. Las cuatro curvas crecen exponencialmente con el gap (rectas en escala log), confirmando el decaimiento evanescente del campo. Lo más relevante es que el orden entre polarizaciones se invierte según la geometría: en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L_π(TE) &gt; L_π(TM) porque el campo </a:t>
            </a:r>
            <a:r>
              <a:rPr lang="es-ES" sz="1200" dirty="0" err="1">
                <a:latin typeface="Arial" panose="020B0604020202020204" pitchFamily="34" charset="0"/>
                <a:cs typeface="Arial" panose="020B0604020202020204" pitchFamily="34" charset="0"/>
              </a:rPr>
              <a:t>Ey</a:t>
            </a:r>
            <a:r>
              <a:rPr lang="es-ES" sz="1200" dirty="0">
                <a:latin typeface="Arial" panose="020B0604020202020204" pitchFamily="34" charset="0"/>
                <a:cs typeface="Arial" panose="020B0604020202020204" pitchFamily="34" charset="0"/>
              </a:rPr>
              <a:t> de la TM se asoma más al gap; en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L_π(TM) &gt; L_π(TE) porque el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residual conecta horizontalmente las guías y favorece el acoplo del campo Ex de la TE. Los puntos anómalos a gaps grandes corresponden a modos cerca del </a:t>
            </a:r>
            <a:r>
              <a:rPr lang="es-ES" sz="1200" dirty="0" err="1">
                <a:latin typeface="Arial" panose="020B0604020202020204" pitchFamily="34" charset="0"/>
                <a:cs typeface="Arial" panose="020B0604020202020204" pitchFamily="34" charset="0"/>
              </a:rPr>
              <a:t>cut</a:t>
            </a:r>
            <a:r>
              <a:rPr lang="es-ES" sz="1200" dirty="0">
                <a:latin typeface="Arial" panose="020B0604020202020204" pitchFamily="34" charset="0"/>
                <a:cs typeface="Arial" panose="020B0604020202020204" pitchFamily="34" charset="0"/>
              </a:rPr>
              <a:t>-off donde el </a:t>
            </a:r>
            <a:r>
              <a:rPr lang="es-ES" sz="1200" dirty="0" err="1">
                <a:latin typeface="Arial" panose="020B0604020202020204" pitchFamily="34" charset="0"/>
                <a:cs typeface="Arial" panose="020B0604020202020204" pitchFamily="34" charset="0"/>
              </a:rPr>
              <a:t>solver</a:t>
            </a:r>
            <a:r>
              <a:rPr lang="es-ES" sz="1200" dirty="0">
                <a:latin typeface="Arial" panose="020B0604020202020204" pitchFamily="34" charset="0"/>
                <a:cs typeface="Arial" panose="020B0604020202020204" pitchFamily="34" charset="0"/>
              </a:rPr>
              <a:t> pierde precisión. Concluimos que la birrefringencia del </a:t>
            </a:r>
            <a:r>
              <a:rPr lang="es-ES" sz="1200" dirty="0" err="1">
                <a:latin typeface="Arial" panose="020B0604020202020204" pitchFamily="34" charset="0"/>
                <a:cs typeface="Arial" panose="020B0604020202020204" pitchFamily="34" charset="0"/>
              </a:rPr>
              <a:t>coupler</a:t>
            </a:r>
            <a:r>
              <a:rPr lang="es-ES" sz="1200" dirty="0">
                <a:latin typeface="Arial" panose="020B0604020202020204" pitchFamily="34" charset="0"/>
                <a:cs typeface="Arial" panose="020B0604020202020204" pitchFamily="34" charset="0"/>
              </a:rPr>
              <a:t> depende fuertemente del tipo de guía: un diseño optimizado para una polarización en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no funciona igual en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y viceversa.</a:t>
            </a:r>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p:pic>
        <p:nvPicPr>
          <p:cNvPr id="10" name="Imagen 9">
            <a:extLst>
              <a:ext uri="{FF2B5EF4-FFF2-40B4-BE49-F238E27FC236}">
                <a16:creationId xmlns:a16="http://schemas.microsoft.com/office/drawing/2014/main" id="{14AE42EC-17DA-2029-6BD4-5BA824082ABB}"/>
              </a:ext>
            </a:extLst>
          </p:cNvPr>
          <p:cNvPicPr>
            <a:picLocks noChangeAspect="1"/>
          </p:cNvPicPr>
          <p:nvPr/>
        </p:nvPicPr>
        <p:blipFill>
          <a:blip r:embed="rId4"/>
          <a:stretch>
            <a:fillRect/>
          </a:stretch>
        </p:blipFill>
        <p:spPr>
          <a:xfrm>
            <a:off x="1066800" y="1523125"/>
            <a:ext cx="4719638" cy="3155377"/>
          </a:xfrm>
          <a:prstGeom prst="rect">
            <a:avLst/>
          </a:prstGeom>
        </p:spPr>
      </p:pic>
      <p:pic>
        <p:nvPicPr>
          <p:cNvPr id="12" name="Imagen 11">
            <a:extLst>
              <a:ext uri="{FF2B5EF4-FFF2-40B4-BE49-F238E27FC236}">
                <a16:creationId xmlns:a16="http://schemas.microsoft.com/office/drawing/2014/main" id="{B5DD1565-B379-0610-B148-27D8412F0A32}"/>
              </a:ext>
            </a:extLst>
          </p:cNvPr>
          <p:cNvPicPr>
            <a:picLocks noChangeAspect="1"/>
          </p:cNvPicPr>
          <p:nvPr/>
        </p:nvPicPr>
        <p:blipFill>
          <a:blip r:embed="rId5"/>
          <a:stretch>
            <a:fillRect/>
          </a:stretch>
        </p:blipFill>
        <p:spPr>
          <a:xfrm>
            <a:off x="6720958" y="1543198"/>
            <a:ext cx="4210810" cy="2815193"/>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Hemos barrido λ entre 1.5 y 1.7 µm con gap = 0.6 µm y W = 1.0 µm, calculando L_π para TE y TM en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En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ambas polarizaciones decrecen monótonamente con λ (TE: 67 → 40 µm; TM: 41 → 31 µm) porque al aumentar λ el modo se desconfina y aumenta el acoplo, lo que implica que un </a:t>
            </a:r>
            <a:r>
              <a:rPr lang="es-ES" sz="1200" dirty="0" err="1">
                <a:latin typeface="Arial" panose="020B0604020202020204" pitchFamily="34" charset="0"/>
                <a:cs typeface="Arial" panose="020B0604020202020204" pitchFamily="34" charset="0"/>
              </a:rPr>
              <a:t>coupler</a:t>
            </a:r>
            <a:r>
              <a:rPr lang="es-ES" sz="1200" dirty="0">
                <a:latin typeface="Arial" panose="020B0604020202020204" pitchFamily="34" charset="0"/>
                <a:cs typeface="Arial" panose="020B0604020202020204" pitchFamily="34" charset="0"/>
              </a:rPr>
              <a:t> 50:50 a 1.55 µm sufrirá desbalance a longitudes lejanas. En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la TE se mantiene casi plana (~30-45 µm) en todo el rango, mientras que la TM presenta un mínimo cerca de 1.65 µm con valores mucho mayores (400-850 µm) por estar cerca del </a:t>
            </a:r>
            <a:r>
              <a:rPr lang="es-ES" sz="1200" dirty="0" err="1">
                <a:latin typeface="Arial" panose="020B0604020202020204" pitchFamily="34" charset="0"/>
                <a:cs typeface="Arial" panose="020B0604020202020204" pitchFamily="34" charset="0"/>
              </a:rPr>
              <a:t>cut</a:t>
            </a:r>
            <a:r>
              <a:rPr lang="es-ES" sz="1200" dirty="0">
                <a:latin typeface="Arial" panose="020B0604020202020204" pitchFamily="34" charset="0"/>
                <a:cs typeface="Arial" panose="020B0604020202020204" pitchFamily="34" charset="0"/>
              </a:rPr>
              <a:t>-off. Concluimos que la dependencia espectral depende críticamente del tipo de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es atractiva para diseños de banda ancha en TE, mientras que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ofrece un comportamiento más equilibrado pero con mayor variación absoluta.</a:t>
            </a:r>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p:pic>
        <p:nvPicPr>
          <p:cNvPr id="10" name="Imagen 9">
            <a:extLst>
              <a:ext uri="{FF2B5EF4-FFF2-40B4-BE49-F238E27FC236}">
                <a16:creationId xmlns:a16="http://schemas.microsoft.com/office/drawing/2014/main" id="{DE2EF705-8DEC-4ECD-0D91-A0A934EA5829}"/>
              </a:ext>
            </a:extLst>
          </p:cNvPr>
          <p:cNvPicPr>
            <a:picLocks noChangeAspect="1"/>
          </p:cNvPicPr>
          <p:nvPr/>
        </p:nvPicPr>
        <p:blipFill>
          <a:blip r:embed="rId4"/>
          <a:stretch>
            <a:fillRect/>
          </a:stretch>
        </p:blipFill>
        <p:spPr>
          <a:xfrm>
            <a:off x="1159892" y="1600160"/>
            <a:ext cx="4385655" cy="3000375"/>
          </a:xfrm>
          <a:prstGeom prst="rect">
            <a:avLst/>
          </a:prstGeom>
        </p:spPr>
      </p:pic>
      <p:pic>
        <p:nvPicPr>
          <p:cNvPr id="12" name="Imagen 11">
            <a:extLst>
              <a:ext uri="{FF2B5EF4-FFF2-40B4-BE49-F238E27FC236}">
                <a16:creationId xmlns:a16="http://schemas.microsoft.com/office/drawing/2014/main" id="{F0E2A9EB-D605-79BD-3329-12284AF303C6}"/>
              </a:ext>
            </a:extLst>
          </p:cNvPr>
          <p:cNvPicPr>
            <a:picLocks noChangeAspect="1"/>
          </p:cNvPicPr>
          <p:nvPr/>
        </p:nvPicPr>
        <p:blipFill>
          <a:blip r:embed="rId5"/>
          <a:stretch>
            <a:fillRect/>
          </a:stretch>
        </p:blipFill>
        <p:spPr>
          <a:xfrm>
            <a:off x="6701289" y="1564338"/>
            <a:ext cx="4195312" cy="2837118"/>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Hemos barrido λ entre 1.5 y 1.7 µm para un MMI con W = 6.6 µm en </a:t>
            </a:r>
            <a:r>
              <a:rPr lang="es-ES" sz="1200" dirty="0" err="1"/>
              <a:t>deep</a:t>
            </a:r>
            <a:r>
              <a:rPr lang="es-ES" sz="1200" dirty="0"/>
              <a:t> y </a:t>
            </a:r>
            <a:r>
              <a:rPr lang="es-ES" sz="1200" dirty="0" err="1"/>
              <a:t>shallow</a:t>
            </a:r>
            <a:r>
              <a:rPr lang="es-ES" sz="1200" dirty="0"/>
              <a:t>. En ambos casos L_π decrece monótonamente con λ: en </a:t>
            </a:r>
            <a:r>
              <a:rPr lang="es-ES" sz="1200" dirty="0" err="1"/>
              <a:t>deep</a:t>
            </a:r>
            <a:r>
              <a:rPr lang="es-ES" sz="1200" dirty="0"/>
              <a:t> pasa de 71.5 a 63.4 µm (≈11 % de variación) y en </a:t>
            </a:r>
            <a:r>
              <a:rPr lang="es-ES" sz="1200" dirty="0" err="1"/>
              <a:t>shallow</a:t>
            </a:r>
            <a:r>
              <a:rPr lang="es-ES" sz="1200" dirty="0"/>
              <a:t> de 77 a 69 µm (≈10 %), con pendiente prácticamente lineal y casi idéntica entre las dos configuraciones. Comparado con el </a:t>
            </a:r>
            <a:r>
              <a:rPr lang="es-ES" sz="1200" dirty="0" err="1"/>
              <a:t>directional</a:t>
            </a:r>
            <a:r>
              <a:rPr lang="es-ES" sz="1200" dirty="0"/>
              <a:t> </a:t>
            </a:r>
            <a:r>
              <a:rPr lang="es-ES" sz="1200" dirty="0" err="1"/>
              <a:t>coupler</a:t>
            </a:r>
            <a:r>
              <a:rPr lang="es-ES" sz="1200" dirty="0"/>
              <a:t> del E2 (TE </a:t>
            </a:r>
            <a:r>
              <a:rPr lang="es-ES" sz="1200" dirty="0" err="1"/>
              <a:t>deep</a:t>
            </a:r>
            <a:r>
              <a:rPr lang="es-ES" sz="1200" dirty="0"/>
              <a:t>: 67 → 40 µm, ≈40 % de variación, y comportamientos muy distintos según el tipo de guía), el MMI presenta una dependencia espectral mucho más suave y casi independiente de </a:t>
            </a:r>
            <a:r>
              <a:rPr lang="es-ES" sz="1200" dirty="0" err="1"/>
              <a:t>deep</a:t>
            </a:r>
            <a:r>
              <a:rPr lang="es-ES" sz="1200" dirty="0"/>
              <a:t>/</a:t>
            </a:r>
            <a:r>
              <a:rPr lang="es-ES" sz="1200" dirty="0" err="1"/>
              <a:t>shallow</a:t>
            </a:r>
            <a:r>
              <a:rPr lang="es-ES" sz="1200" dirty="0"/>
              <a:t>, lo que confirma su mayor robustez. La razón es que en el MMI L_π depende solo de los dos primeros modos del cuerpo multimodo (</a:t>
            </a:r>
            <a:r>
              <a:rPr lang="es-ES" sz="1200" dirty="0" err="1"/>
              <a:t>n_eff</a:t>
            </a:r>
            <a:r>
              <a:rPr lang="es-ES" sz="1200" dirty="0"/>
              <a:t> poco sensibles a λ), mientras que en el DC depende del solape evanescente entre dos guías, que cambia mucho con el desconfinamiento del modo. Concluimos que el MMI es preferible para </a:t>
            </a:r>
            <a:r>
              <a:rPr lang="es-ES" sz="1200" dirty="0" err="1"/>
              <a:t>couplers</a:t>
            </a:r>
            <a:r>
              <a:rPr lang="es-ES" sz="1200" dirty="0"/>
              <a:t> de banda ancha, mientras que el DC se desbalancea al alejarnos del λ de diseño.</a:t>
            </a:r>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p:pic>
        <p:nvPicPr>
          <p:cNvPr id="14" name="Imagen 13">
            <a:extLst>
              <a:ext uri="{FF2B5EF4-FFF2-40B4-BE49-F238E27FC236}">
                <a16:creationId xmlns:a16="http://schemas.microsoft.com/office/drawing/2014/main" id="{47FE0C40-B545-5066-A617-2A8C6A038F16}"/>
              </a:ext>
            </a:extLst>
          </p:cNvPr>
          <p:cNvPicPr>
            <a:picLocks noChangeAspect="1"/>
          </p:cNvPicPr>
          <p:nvPr/>
        </p:nvPicPr>
        <p:blipFill>
          <a:blip r:embed="rId4"/>
          <a:stretch>
            <a:fillRect/>
          </a:stretch>
        </p:blipFill>
        <p:spPr>
          <a:xfrm>
            <a:off x="1259600" y="1700992"/>
            <a:ext cx="4186239" cy="2863948"/>
          </a:xfrm>
          <a:prstGeom prst="rect">
            <a:avLst/>
          </a:prstGeom>
        </p:spPr>
      </p:pic>
      <p:pic>
        <p:nvPicPr>
          <p:cNvPr id="17" name="Imagen 16">
            <a:extLst>
              <a:ext uri="{FF2B5EF4-FFF2-40B4-BE49-F238E27FC236}">
                <a16:creationId xmlns:a16="http://schemas.microsoft.com/office/drawing/2014/main" id="{FA65D193-25DE-DA19-ED02-BCE571A3F6DD}"/>
              </a:ext>
            </a:extLst>
          </p:cNvPr>
          <p:cNvPicPr>
            <a:picLocks noChangeAspect="1"/>
          </p:cNvPicPr>
          <p:nvPr/>
        </p:nvPicPr>
        <p:blipFill>
          <a:blip r:embed="rId5"/>
          <a:stretch>
            <a:fillRect/>
          </a:stretch>
        </p:blipFill>
        <p:spPr>
          <a:xfrm>
            <a:off x="6763636" y="1592799"/>
            <a:ext cx="4090988" cy="2747770"/>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Sí, existe un punto donde el MMI funciona prácticamente igual para TE y TM: en ambas configuraciones (</a:t>
            </a:r>
            <a:r>
              <a:rPr lang="es-ES" sz="1200" dirty="0" err="1"/>
              <a:t>deep</a:t>
            </a:r>
            <a:r>
              <a:rPr lang="es-ES" sz="1200" dirty="0"/>
              <a:t> y </a:t>
            </a:r>
            <a:r>
              <a:rPr lang="es-ES" sz="1200" dirty="0" err="1"/>
              <a:t>shallow</a:t>
            </a:r>
            <a:r>
              <a:rPr lang="es-ES" sz="1200" dirty="0"/>
              <a:t>), las curvas L_π(TE) y L_π(TM) convergen al aumentar W y se cruzan en torno a W ≈ 10 µm, con L_π ≈ 155 µm en </a:t>
            </a:r>
            <a:r>
              <a:rPr lang="es-ES" sz="1200" dirty="0" err="1"/>
              <a:t>deep</a:t>
            </a:r>
            <a:r>
              <a:rPr lang="es-ES" sz="1200" dirty="0"/>
              <a:t> y ≈ 161 µm en </a:t>
            </a:r>
            <a:r>
              <a:rPr lang="es-ES" sz="1200" dirty="0" err="1"/>
              <a:t>shallow</a:t>
            </a:r>
            <a:r>
              <a:rPr lang="es-ES" sz="1200" dirty="0"/>
              <a:t>. La razón es que al ensancharse el cuerpo, la diferencia entre los modos 0 y 1 deja de estar dominada por el confinamiento lateral (asimétrico para TE/TM) y pasa a estar dominada por el confinamiento vertical, idéntico para ambas polarizaciones al fijar h y los materiales. Por tanto, un MMI con W ≈ 10 µm permite obtener un </a:t>
            </a:r>
            <a:r>
              <a:rPr lang="es-ES" sz="1200" dirty="0" err="1"/>
              <a:t>coupler</a:t>
            </a:r>
            <a:r>
              <a:rPr lang="es-ES" sz="1200" dirty="0"/>
              <a:t> casi independiente de polarización, a costa de un dispositivo más largo. Para W menores (5-7 µm), las curvas se separan y el MMI se vuelve birrefringente.</a:t>
            </a:r>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p:pic>
        <p:nvPicPr>
          <p:cNvPr id="8" name="Imagen 7">
            <a:extLst>
              <a:ext uri="{FF2B5EF4-FFF2-40B4-BE49-F238E27FC236}">
                <a16:creationId xmlns:a16="http://schemas.microsoft.com/office/drawing/2014/main" id="{83E5882A-D417-B6A3-027F-F539C63B8A54}"/>
              </a:ext>
            </a:extLst>
          </p:cNvPr>
          <p:cNvPicPr>
            <a:picLocks noChangeAspect="1"/>
          </p:cNvPicPr>
          <p:nvPr/>
        </p:nvPicPr>
        <p:blipFill>
          <a:blip r:embed="rId4"/>
          <a:stretch>
            <a:fillRect/>
          </a:stretch>
        </p:blipFill>
        <p:spPr>
          <a:xfrm>
            <a:off x="1295400" y="1753026"/>
            <a:ext cx="3986010" cy="2695575"/>
          </a:xfrm>
          <a:prstGeom prst="rect">
            <a:avLst/>
          </a:prstGeom>
        </p:spPr>
      </p:pic>
      <p:pic>
        <p:nvPicPr>
          <p:cNvPr id="12" name="Imagen 11">
            <a:extLst>
              <a:ext uri="{FF2B5EF4-FFF2-40B4-BE49-F238E27FC236}">
                <a16:creationId xmlns:a16="http://schemas.microsoft.com/office/drawing/2014/main" id="{984F780D-D853-322A-120E-E1F4629D58D7}"/>
              </a:ext>
            </a:extLst>
          </p:cNvPr>
          <p:cNvPicPr>
            <a:picLocks noChangeAspect="1"/>
          </p:cNvPicPr>
          <p:nvPr/>
        </p:nvPicPr>
        <p:blipFill>
          <a:blip r:embed="rId5"/>
          <a:stretch>
            <a:fillRect/>
          </a:stretch>
        </p:blipFill>
        <p:spPr>
          <a:xfrm>
            <a:off x="6596062" y="1533130"/>
            <a:ext cx="4300538" cy="2908277"/>
          </a:xfrm>
          <a:prstGeom prst="rect">
            <a:avLst/>
          </a:prstGeom>
        </p:spPr>
      </p:pic>
    </p:spTree>
    <p:extLst>
      <p:ext uri="{BB962C8B-B14F-4D97-AF65-F5344CB8AC3E}">
        <p14:creationId xmlns:p14="http://schemas.microsoft.com/office/powerpoint/2010/main" val="535939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9122</TotalTime>
  <Words>3256</Words>
  <Application>Microsoft Office PowerPoint</Application>
  <PresentationFormat>Panorámica</PresentationFormat>
  <Paragraphs>122</Paragraphs>
  <Slides>18</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Marcos Estañ Lloret</cp:lastModifiedBy>
  <cp:revision>17</cp:revision>
  <dcterms:created xsi:type="dcterms:W3CDTF">2025-01-27T02:46:57Z</dcterms:created>
  <dcterms:modified xsi:type="dcterms:W3CDTF">2026-05-01T08:32:54Z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